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645920"/>
            <a:ext cx="4297680" cy="384048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TRACK 01 · PS-02 · 24-HOUR PROTOTYPE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</a:defRPr>
            </a:pPr>
            <a:r>
              <a:t>TrustGuard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Holistic Digital Trust &amp; Impersonation Defense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3192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Moving beyond isolated deepfake classification into a multimodal, relational trust system that detects synthetic media, persona anomalies, lookalike accounts, and unauthorized likeness exploitation.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Innovators Conclave 2026   •   Ideation &amp; Architectural Pitch   •   Evaluation Round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01 · PROBLEM UNDERSTANDING &amp;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Fallacy of Isolated "AI Detection"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Why traditional deepfake checkers fail in real-world scenarios and what modern deception actually looks like.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⚠️ The Isolated Classifier Fallacy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Adversarial Arms Race: Generative models are rapidly approaching photorealism and zero-shot voice synthesis. Unimodal detectors inevitably lose this race.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High False-Positive Rates: Standard detectors mistake mundane video recompression (WhatsApp 480p, packet drop) for synthetic diffusion noise.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 Cheapfake Defense: An authentic, unaltered video from 2021 paired with a fabricated 2026 crisis claim scores '0% Deepfake', yet represents 100% malicious fraud.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Opaque Scalar Trap: An alert reading '78% AI-Generated' provides zero explanation, no forensic proof, and no path for verification.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🎯 The 2026 Threat Reality: Multi-Vector Attacks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Multi-Channel Composition: Modern scams combine a real executive photo, a cloned voice note, a doctored PDF invoice, and urgent WhatsApp messaging.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Persona Hijacking &amp; Impersonation: Cloned accounts using homoglyphs, copied bios, and deepfakes target financial authorization and reputation extortion.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Professional Likeness Theft: Creators and professionals face automated scraping and unauthorized reuse of their likeness, voice, and copyrighted work.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Government of India Mandate: Explicitly recognized AI synthetic audio, video, and text impersonation as a critical national digital security challenge.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💡 The Guiding Demand: "Can an AI system examine multiple pieces of evidence and determine whether the identity, media, and surrounding context are consistent and trustworthy?"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02 · CORE PHILOSOPHY &amp;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Governing Principle: "No Score is Proof"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Shifting from an opaque probability generator to an explainable digital trust intelligence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1. Multimodal Evidence Fusion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Examines ≥2 evidence channels simultaneously (Video + Audio + Text + Metadata + Baseline).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Evaluates relational consistency across modalities rather than media in a vacuum.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2. Calibrated Uncertainty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Calculates Epistemic Uncertainty (U_epistemic).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Discounts artifact confidence under heavy compression to prevent false accusations of legitimate content.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3. Verification Playbook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Transforms suspicion into guided action.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Provides step-by-step verification (PBX lookups, C2PA tracing, archive checks) ending in a signed audit certificate.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7033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Traditional Deepfake Detector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</a:defRPr>
                      </a:pPr>
                      <a:r>
                        <a:t>TrustGuard Multimodal Platform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Scope of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Single file (image or audio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Cross-modal bundle (Media + Text + Persona + Context)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Evaluation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Single scalar score (e.g. '82% Fake')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Multi-dimensional Trust Vector + Dual-Polarity Ledger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Identity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Agnostic; does not know who is depicted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Enrolled Canonical Persona Baseline &amp; Likeness Vault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Context Grounding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None; ignores timestamps &amp;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</a:defRPr>
                      </a:pPr>
                      <a:r>
                        <a:t>Perceptual hash archive matching &amp; spatio-temporal checks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03 ·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decoupled, modular pipeline spanning multi-channel ingestion, forensic analysis, and explainable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20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1. Ingestion Channels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Web App · Extension</a:t>
            </a:r>
            <a:br/>
            <a:r>
              <a:t>API · Citizen Tipline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45920"/>
            <a:ext cx="1920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2. Ingestion Normalizer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Canonical Evidence</a:t>
            </a:r>
            <a:br/>
            <a:r>
              <a:t>Bundle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3. Forensic Suite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Media · Stylometry</a:t>
            </a:r>
            <a:br/>
            <a:r>
              <a:t>Cross-Modal ·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645920"/>
            <a:ext cx="1920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4. XAI Risk Synthesizer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Trust Vector &amp;</a:t>
            </a:r>
            <a:br/>
            <a:r>
              <a:t>Dual-Polarity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39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645920"/>
            <a:ext cx="19202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5. Verification Playbook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Actionable Audit &amp;</a:t>
            </a:r>
            <a:br/>
            <a:r>
              <a:t>Cryptographic Stamp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Layer 1: Media Synthetics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2D-FFT Spectral Frequency roll-off analysis.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Subcutaneous rPPG biological pulse extraction.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Vocoder harmonic phase discontinuity checks.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C2PA Content Credentials cryptographic parser.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26080"/>
            <a:ext cx="73152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292608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Layer 2: Stylometry &amp; Persona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Function word distribution (Yule's Characteristic K).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Causal LM perplexity delta vs. author baseline.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Coercive urgency &amp; social engineering detection.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Circadian posting rhythm point process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926080"/>
            <a:ext cx="73152" cy="3200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Layer 3: Cross-Modal Sync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Phoneme-viseme lip desynchronization tracking.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Visual-semantic context contradiction (CLIP).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Acoustic reverberation (RT60) space mismatch.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Document OCR cross-checked with biometrics.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73152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0" y="2926080"/>
            <a:ext cx="246888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Layer 4: Context Grounding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Perceptual hash (pHash/PDQ) archive lookup.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Homoglyph &amp; Punycode handle spoof scanner.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Cross-platform identity graph linkage.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Spatio-temporal schedule feasibility checks.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926080"/>
            <a:ext cx="73152" cy="3200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04 · DEEP DIVE: INNOVATION 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Persona Anomaly &amp; Stylometric Deviation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Detecting account takeovers, coerced messaging, and AI clone activity via cognitive writeprints.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🔬 Forensic Stylometry ("Writeprints")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Function Word Distribution: Evaluates frequencies across 300+ topic-invariant functional tokens (prepositions, conjunctions, auxiliary verbs).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Vocabulary Concentration (Yule's K): Formula: K = 10⁴ · [ (∑ i² · V(i, N) − N) / N² ]. Measures vocabulary richness invariant to text length.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Syntactic POS Transitions: Tracks Part-of-Speech bigram/trigram transition probabilities (DET → ADJ → NOUN vs PRON → VERB → ADV).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Subconscious Casing &amp; Punctuation: Evaluates idiosyncratic hyphenation, emoji clusters, and contraction preferences (cannot vs can't).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⚡ Generative AI Perplexity &amp; Behavioral Drift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Authorial Perplexity Delta: Measures cross-entropy loss against the user's authentic writing adapter. AI text exhibits uniform low burstiness; humans show natural spikes.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Social Engineering Heuristics: Real-time detection of coercion patterns: artificial urgency, high-value wire transfers, and communication embargoes ('Line insecure, do not call').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Temporal &amp; Spatial Modeling: 24-hour diurnal posting rhythms via Poisson point processes. Out-of-window posts (e.g. 3:30 AM) or rapid multi-post bursts raise anomaly indicators.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Device / Client Discrepancy: Discrepancies between official user-agent headers and automated API poster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566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>
                <a:solidFill>
                  <a:srgbClr val="2563EB"/>
                </a:solidFill>
              </a:defRPr>
            </a:pPr>
            <a:r>
              <a:t>🛡️ Real-World Scenario: An attacker takes over a CEO's account or posts a cloned memo. Even if the avatar matches, TrustGuard flags a 340% surge in imperative verbs and an uncharacteristic drop in Yule's K, intercepting the wire fraud before execution.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05 · DEEP DIVE: INNOVATION PILLAR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Canonical Likeness &amp; Creative Asset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privacy-first, zero-knowledge repository protecting biometrics and intellectual property.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👤 Facial Biometric Centroid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InsightFace / ArcFace: Maps landmarks onto an additive angular margin hypersphere.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512-d Identity Centroid (c̄): Synthesized from 5–10 diverse reference photos.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Zero-Knowledge Storage: Never stores raw images; stores only salted, irreversibly hashed mathematical vectors compliant with DPDP Act 2023.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🎙️ Acoustic Voiceprint Profile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ECAPA-TDNN Architecture: Generates a 192-d speaker embedding from 60 seconds of reference speech.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Dual-Layer Forensic Check: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1. Identity Match: Does voice match claimed user? (Cosine Similarity ≥ 0.65)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2. Synthetic Vocoder Check: Inspects mel-spectrogram for phase cuts (AASIST).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7315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🎨 Creative Asset Shield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Perceptual Hashing (pHash): Fast Hamming distance matching for exact or resized copies.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Deep Embeddings (DINOv2 / CLIP): Detects cropped, filtered, mirrored, or watermarked derivative works.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C2PA Provenance: Validates hardware-signed Content Credentials manifests and PKI trust lists.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73152" cy="3108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23444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🔒 Compliance &amp; Privacy by Design (DPDP Act 2023 &amp; GDPR)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Under India's Digital Personal Data Protection Act (DPDP 2023), processing biometric data carries strict fiduciary obligations (penalties up to ₹250 crore). TrustGuard strictly adheres to Data Minimization: raw media is never retained post-feature-extraction, embeddings are encrypted with AES-256-GCM using user-derived keys, and users retain complete 1-click cryptographic erasure rights.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06 · DEEP DIVE: INNOVATION PILLAR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Proactive Impersonation &amp; Clone Hunting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Algorithmic discovery of typosquatted handles, visual homoglyphs, and copycat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🔡 Visual Homoglyphs &amp; Punycode Spoofs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Cross-Script Character Substitution: Attackers substitute Cyrillic 'а' (U+0430) for Latin 'a' (U+0061) or Greek 'ο' for Latin 'o' to spoof handles.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Unicode Skeleton Normalization: Maps all incoming handles through Unicode Technical Report #39 (UTS #39) confusables tables: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Example: skeleton('rаjesh_cfo') → 'rajesh_cfo' [FLAG: Mixed Script Attack]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Lexical Permutations: Proactively generates and monitors Damerau-Levenshtein mutations and predatory patterns (_official, real_, _support).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🕸️ Cross-Platform Identity Linkage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Canonical Identity Graph: Links verified user handles across major social ecosystems (X, LinkedIn, GitHub, YouTube).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Lightweight OSINT Status Probing: Executes non-intrusive asynchronous endpoint status checks (HTTP 200 vs 404) across 400+ platform signatures to detect newly registered lookalikes.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Bipartite Profile Match Scoring Formula: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Match = w₁·Sim_handle + w₂·Sim_name + w₃·Sim_bio + w₄·Sim_avatar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Automated Alerting: Instantly flags unlinked accounts exceeding composite threshold as suspected clones.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>
                <a:solidFill>
                  <a:srgbClr val="2563EB"/>
                </a:solidFill>
              </a:defRPr>
            </a:pPr>
            <a:r>
              <a:t>🔍 Value for Professionals &amp; Creators: Automatically scans for unauthorized clone profiles soliciting crypto investments or selling counterfeit courses under an influencer's or executive's stolen likeness.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07 · DEEP DIVE: INNOVATION PILLAR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Cross-Modal Inconsistency &amp; Context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Exposing synthetic manipulation through physical, temporal, and semantic contradictions.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👄 Phoneme-Viseme Sync (Lip Sync)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Tracks audio phonemes against visual mouth shapes (visemes) across video frames.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Physical Impossibility Check: Flags videos where audio articulates bilabial plosives (/p/, /b/, /m/) while visual mouth aperture remains open (typical of audio dubbing or animation models).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017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🏛️ Visual-Semantic Contradiction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Uses multimodal contrastive embeddings (CLIP / VLM) to compare claimed context against visual reality.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Contextual Discordance: Detects if a post claiming 'Live from Parliament press conference' visually contains outdoor residential foliage or outdated military insignias.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73152" cy="3017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📼 Cheapfake &amp; Archive Matching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Computes frame perceptual hashes (pHash / PDQ) against known historical news archives.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Repurposed Media Detection: Exposes when an authentic flood/crisis video from 2020 has been recirculated with fabricated 2026 breaking audio or subtitles.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73152" cy="3017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🔊 Acoustic-Environmental Consistency Checking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Analyzes acoustic Room Impulse Response (reverberation time RT_60) against the visually observed space. For example, clean studio-recorded audio with zero acoustic decay paired with a purported live outdoor rally video immediately triggers a high environmental discordance flag, catching audio-dubbed deepfakes.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08 · 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Calibrated Trust Vector &amp; Dual-Polarity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Transparent, auditable decision-making replacing opaque black-box percentages.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📐 The 5D Trust Vector (T)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Structured mathematical representation: T = ⟨ S_media, S_cross, S_ident, S_context, U_epistemic ⟩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S_media: Physical/spectral generation artifacts (0.0 to 1.0).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S_cross: Cross-modal discordance index (lip desync, caption clash).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S_ident: Impersonation risk vs. canonical persona baseline.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S_context: Temporal/spatial impossibility &amp; archive reuse.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U_epistemic: Uncertainty discount from compression or low resolution.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⚖️ The Dual-Polarity Evidence Ledger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🔴 Red Flags (Indicators of Manipulation):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Audio vocoder phase cuts detected at 8 kHz (p = 0.89).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Viseme desynchronization at t = 2.4s (+240ms delay).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Extreme urgency stylometry requesting immediate wire transfer.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🟢 Green Flags (Counter-Evidence / Authenticity):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Facial skin pore textures exhibit natural stochastic biological variation.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Purported sender email domain possesses valid SPF/DKIM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3657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FFFBE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>
                <a:solidFill>
                  <a:srgbClr val="D97706"/>
                </a:solidFill>
              </a:defRPr>
            </a:pPr>
            <a:r>
              <a:t>🛡️ False-Positive Mitigation: When high compression noise (U_epistemic &gt; 0.50) is detected, the system bounds maximum suspicion and flags: 'Inconclusive / Compression Degradation' — completely preventing false accusations of genuine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09 · HUMAN-IN-THE-LOOP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Actionable Independent Verification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Empowering users and fraud analysts to independently corroborate evidence before taking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Step 1: Out-of-Band Call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TrustGuard automatically retrieves verified canonical PBX / phone directory records for the claimed individual.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Instructs analyst to verify claims directly out-of-band, bypassing hijacked channels.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Step 2: Source Archive Trace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Provides a direct clickable reverse-lookup link to historical archive footage (e.g. 2022 Annual Meeting).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Allows analyst to independently confirm visual frame reuse and cheapfake dubbing.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Step 3: Escrow / Account Audit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Cross-references destination bank IFSC/routing numbers against approved corporate vendor registries.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Exposes mismatched beneficiary accounts before financial authorization.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698480" cy="16002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📜 Cryptographic Incident Audit Certificate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Once the human investigator completes the verification checklist, TrustGuard packages the raw evidence hashes, the 5-dimensional Trust Vector, the dual-polarity ledger, and the analyst notes into a tamper-proof Signed Audit Certificate (PDF / JSON-LD).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Certificate Hash: SHA256: 8f9b2c4e... | ECDSA Signed by TrustGuard Security Enclave | Status: FRAUD_CONFIRMED_HUMAN_AUDITED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10 · TECHNICAL OPENSPEC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OpenSpec: Standardized Trust API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Standardized, extensible JSON-LD schemas enabling headless enterprise and ecosystem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Input: TrustGuardInspectionRequest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requestId: 'req_tg_2026_0924_01'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sourceChannel: 'web_portal'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claimedIdentity: { entityName: 'Rajesh Verma', claimedRole: 'CFO', referenceHandles: { linkedin: 'in/rajesh-verma-sample' } }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evidenceItems: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ev_01_video: modality: 'video', mediaUri: 's3://.../call.mp4', c2paPresent: false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  • ev_02_text: modality: 'text', textContent: 'Urgent meeting in London. Wire 25L immediately.'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Output: TrustGuardInspectionVerdict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verdictId: 'ver_tg_2026_0924_01'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assessmentTier: 'HIGH_IMPERSONATION_RISK'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calibratedTrustVector: { mediaSynthesisScore: 0.86, crossModalDiscordanceScore: 0.89, identityMismatchScore: 0.78, contextualAnomalyScore: 0.92, epistemicUncertainty: 0.18 }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verdictSummary: { headline: 'Multi-Vector Impersonation Attack Detected', noScoreIsProofNotice: 'Algorithmic anomaly assessment; follow verification checklist.' }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evidenceLedger: [ { audio: 'Vocoder phase discontinuity (p=0.91)' }, { lip_sync: 'Phoneme-viseme desync at t=2.4s' }, { context: 'Visual pHash matches 2022 AGM footage' } 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11 · FEASIBILITY &amp; PRAGMATISM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Feasibility &amp; Real-World Practicalities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Overcoming real-world barriers through sound architecture and regulatory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🌐 Overcoming Social Media Scraping Limits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Barrier: X Pro API costs $5,000/mo; LinkedIn bans scrapers. Mass scraping during a live pitch causes network timeouts and IP bans.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Solution: Consented Bring-Your-Own-Data (BYOD) via official GDPR exports (Twitter/LinkedIn archives) + Client-side browser extension.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⚡ Real-Time Latency &amp; Compute Feasibility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Barrier: Loading 5 massive deep learning models (Whisper, Wav2Lip, VideoMAE) crashes CPU memory and takes 45s per query.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Solution: Fast, deterministic extractors (OpenCV 2D-FFT 40ms, Librosa 60ms, spaCy 80ms) + Structured Pydantic LLM synthesis in &lt;1.5s.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⚖️ Legal &amp; Biometric Privacy (DPDP 2023)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DPDP Section 43/66 &amp; Fiduciary Rules: Prohibits unconsented scraping and establishes penalties up to ₹250 Cr for biometric mishandling.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Engineered Compliance: Zero raw biometric storage; irreversible normalized embeddings; client-side cryptographic keys; 1-click purge rights.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📉 Short-Text Stylometric Calibration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 Barrier: Evaluating stylometry on a 10-word tweet yields statistical noise and false alarms.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Engineered Compliance: If input is &lt;50 words, stylometric weight is automatically attenuated and Epistemic Uncertainty (U) is raised to prevent false positives.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12 · VALIDATION &amp;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Interactive Validation Test Benches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Four comprehensive demonstration scenarios directly mapped to the hackathon problem statement.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Scenario A: Executive Wire Impersonation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Attack: Archived 2022 CFO video paired with AI-cloned urgent voice demanding a ₹25,00,000 wire transfer.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Forensic Detection: Flags XTTS vocoder phase cuts (p=0.91) + bilabial lip desync at t=2.4s + pHash archive match.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Verdict: HIGH_IMPERSONATION_RISK + Actionable PBX confirmation playbook.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Scenario B: Clone &amp; Homoglyph Attack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Attack: Lookalike profile using Cyrillic 'а' in handle, copied bio, and stolen avatar soliciting investments.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Forensic Detection: Unicode skeleton exposes mixed-script spoof + ArcFace confirms avatar match + absent from graph.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Verdict: CONFIRMED_CLONE_PROFILE + 1-Click Platform Takedown Notice.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73152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Scenario C: Creative Intellectual Property Shield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Attack: Digital artist's artwork scraped, cropped, color-filtered, and resold on an NFT marketplace.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Forensic Detection: pHash fails due to crops, but DINOv2 deep embedding yields cosine sim = 0.89 + missing C2PA manifest.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Verdict: COPYRIGHT_INFRINGEMENT_DETECTED + Infringement dossier.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Scenario D: Benign Low-Bandwidth Edge Case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Input: Legitimate executive video over poor hotel Wi-Fi with heavy H.264 compression artifacts.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Forensic Detection: Naive classifier flags 85% fake; TrustGuard quantifies high Epistemic Uncertainty (U=0.68) from compression.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Verdict: AUTHENTIC / UNCERTAIN DUE TO NETWORK NOISE (Zero False Alarm).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023360"/>
            <a:ext cx="73152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13 · EXECUTION PLAN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Alignment with Judging Criteria &amp;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Engineered specifically to maximize marks across Round 1 and Round 2 while avoiding all penalty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37160"/>
          <a:lstStyle/>
          <a:p>
            <a:pPr algn="ctr"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🏆 Round 1 Rubric Alignment (50 Marks)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Problem Understanding (10/10): Embraces the core ethos: moving past isolated classifiers to relational, multi-evidence digital trust.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Innovation &amp; Originality (10/10): Unites writeprint stylometry, biometric vaulting, homoglyph defense, and dual-polarity ledgers.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Technical Feasibility (10/10): Pragmatic hybrid architecture; zero GPU bottlenecks; deterministic extractors + structured LLM synthesis.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Prototype &amp; Progress (10/10): Functional end-to-end workbench; pre-enrolled baseline personas; live forensic spectrogram generation.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Impact &amp; Pitch Clarity (10/10): Addresses a ₹10,000+ Cr annual societal fraud epidemic with clear, crisp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212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</a:defRPr>
                      </a:pPr>
                      <a:r>
                        <a:t>Where Marks Are Lost (Official)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0F172A"/>
                          </a:solidFill>
                        </a:defRPr>
                      </a:pPr>
                      <a:r>
                        <a:t>How TrustGuard Mitigates &amp; 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C2626"/>
                          </a:solidFill>
                        </a:defRPr>
                      </a:pPr>
                      <a:r>
                        <a:t>A demo that does not run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Lightweight CPU-first stack (&lt;150ms) ensures zero stage freezing or CUDA OOM.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C2626"/>
                          </a:solidFill>
                        </a:defRPr>
                      </a:pPr>
                      <a:r>
                        <a:t>Scope promised in R1 not in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Crystal-clear boundary: 24h prototype delivers workbench &amp; test benches; crawlers remain future.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C2626"/>
                          </a:solidFill>
                        </a:defRPr>
                      </a:pPr>
                      <a:r>
                        <a:t>Single-modality dressed as multi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Genuinely processes video, audio, text stylometry, metadata, and identity baselines.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DC2626"/>
                          </a:solidFill>
                        </a:defRPr>
                      </a:pPr>
                      <a:r>
                        <a:t>Confidence score as proof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475569"/>
                          </a:solidFill>
                        </a:defRPr>
                      </a:pPr>
                      <a:r>
                        <a:t>Governing tenet: 5D Trust Vector + Dual-Polarity Ledger + Verification Playbook.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🚀 Conclusion: TrustGuard delivers an authentic, defensible, and complete digital trust ecosystem engineered to win PS-02.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TrustGuard · PS-02 · AI for Digital Trust                                                                                                                  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